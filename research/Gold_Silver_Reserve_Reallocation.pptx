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Gold Target ($/oz)</c:v>
                </c:pt>
              </c:strCache>
            </c:strRef>
          </c:tx>
          <c:spPr>
            <a:solidFill>
              <a:srgbClr val="C9A84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5F0E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J.P.Morgan</c:v>
                  </c:pt>
                  <c:pt idx="1">
                    <c:v>Deutsche Bank</c:v>
                  </c:pt>
                  <c:pt idx="2">
                    <c:v>Wells Fargo</c:v>
                  </c:pt>
                  <c:pt idx="3">
                    <c:v>Ed Yardeni (2030)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6300</c:v>
                </c:pt>
                <c:pt idx="1">
                  <c:v>6000</c:v>
                </c:pt>
                <c:pt idx="2">
                  <c:v>6200</c:v>
                </c:pt>
                <c:pt idx="3">
                  <c:v>10000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5F0E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5F0E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00"/>
        </c:scaling>
        <c:delete val="0"/>
        <c:axPos val="b"/>
        <c:majorGridlines>
          <c:spPr>
            <a:ln w="6350" cap="flat">
              <a:solidFill>
                <a:srgbClr val="1A3A5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F8C8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80C12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Gold Price ($/oz)</c:v>
                </c:pt>
              </c:strCache>
            </c:strRef>
          </c:tx>
          <c:spPr>
            <a:solidFill>
              <a:srgbClr val="C9A84C"/>
            </a:solidFill>
            <a:ln w="38100" cap="flat">
              <a:solidFill>
                <a:srgbClr val="C9A84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9A84C"/>
              </a:solidFill>
              <a:ln w="9525" cap="flat">
                <a:solidFill>
                  <a:srgbClr val="C9A84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Jan 2025</c:v>
                  </c:pt>
                  <c:pt idx="1">
                    <c:v>Apr 2025</c:v>
                  </c:pt>
                  <c:pt idx="2">
                    <c:v>Jul 2025</c:v>
                  </c:pt>
                  <c:pt idx="3">
                    <c:v>Oct 2025</c:v>
                  </c:pt>
                  <c:pt idx="4">
                    <c:v>Jan 2026
(ATH)</c:v>
                  </c:pt>
                  <c:pt idx="5">
                    <c:v>Mar 2026
(Today)</c:v>
                  </c:pt>
                  <c:pt idx="6">
                    <c:v>Base 2026</c:v>
                  </c:pt>
                  <c:pt idx="7">
                    <c:v>Bull 2026</c:v>
                  </c:pt>
                  <c:pt idx="8">
                    <c:v>Decade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2600</c:v>
                </c:pt>
                <c:pt idx="1">
                  <c:v>3200</c:v>
                </c:pt>
                <c:pt idx="2">
                  <c:v>3900</c:v>
                </c:pt>
                <c:pt idx="3">
                  <c:v>4500</c:v>
                </c:pt>
                <c:pt idx="4">
                  <c:v>5594</c:v>
                </c:pt>
                <c:pt idx="5">
                  <c:v>4568</c:v>
                </c:pt>
                <c:pt idx="6">
                  <c:v>6000</c:v>
                </c:pt>
                <c:pt idx="7">
                  <c:v>8000</c:v>
                </c:pt>
                <c:pt idx="8">
                  <c:v>10000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F8C8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3A5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5F0E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12233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8056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320040"/>
            <a:ext cx="8595360" cy="36576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45720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spc="4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GREAT RESERVE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320040" y="114300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spc="600" kern="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REALLOCATION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320040" y="201168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the World Dumps US Debt for Gold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20040" y="2834640"/>
            <a:ext cx="2651760" cy="1097280"/>
          </a:xfrm>
          <a:prstGeom prst="rect">
            <a:avLst/>
          </a:prstGeom>
          <a:solidFill>
            <a:srgbClr val="1A3A5C"/>
          </a:solidFill>
          <a:ln w="1905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" y="28803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$12T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20040" y="345643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FX Reserves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46120" y="2834640"/>
            <a:ext cx="2651760" cy="1097280"/>
          </a:xfrm>
          <a:prstGeom prst="rect">
            <a:avLst/>
          </a:prstGeom>
          <a:solidFill>
            <a:srgbClr val="1A3A5C"/>
          </a:solidFill>
          <a:ln w="1905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46120" y="28803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1,000T+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246120" y="345643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CB Gold Buying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2200" y="2834640"/>
            <a:ext cx="2651760" cy="1097280"/>
          </a:xfrm>
          <a:prstGeom prst="rect">
            <a:avLst/>
          </a:prstGeom>
          <a:solidFill>
            <a:srgbClr val="1A3A5C"/>
          </a:solidFill>
          <a:ln w="1905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72200" y="28803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 YRS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172200" y="345643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Overtook Treasuries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0040" y="466344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  |  Global Macro &amp; Metals Analysis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6459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6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68680" y="20116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ACTUALLY HAPPENING</a:t>
            </a:r>
            <a:endParaRPr lang="en-US" sz="2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23444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126187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Reserve Shift Is Not Theoretical — It Is Happening Now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228600" y="1828800"/>
            <a:ext cx="4206240" cy="2926080"/>
          </a:xfrm>
          <a:prstGeom prst="rect">
            <a:avLst/>
          </a:prstGeom>
          <a:solidFill>
            <a:srgbClr val="243B55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20040" y="19202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BUYING SIDE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20040" y="2286000"/>
            <a:ext cx="40233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overtook US Treasuries as the largest share of global reserves for the FIRST TIME in 30 years — 2025</a:t>
            </a:r>
            <a:endParaRPr lang="en-US" sz="13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banks bought 1,000+ tonnes annually for THREE consecutive years</a:t>
            </a:r>
            <a:endParaRPr lang="en-US" sz="13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of central banks surveyed expect global gold reserves to RISE in 2026</a:t>
            </a:r>
            <a:endParaRPr lang="en-US" sz="13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 and Brazil still hold less than 10% of reserves in gold — buying runway is enormous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709160" y="1828800"/>
            <a:ext cx="4206240" cy="2926080"/>
          </a:xfrm>
          <a:prstGeom prst="rect">
            <a:avLst/>
          </a:prstGeom>
          <a:solidFill>
            <a:srgbClr val="243B55"/>
          </a:solidFill>
          <a:ln w="12700">
            <a:solidFill>
              <a:srgbClr val="B03A2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800600" y="19202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SELLING SIDE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800600" y="2286000"/>
            <a:ext cx="40233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 ($1.2T) actively repatriating as JGB yields rise toward Treasury parity</a:t>
            </a:r>
            <a:endParaRPr lang="en-US" sz="13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 steadily reducing US Treasury holdings — quarterly drawdowns confirmed</a:t>
            </a:r>
            <a:endParaRPr lang="en-US" sz="13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 data: dollar credit outside US slowing while euro and yuan alternatives grow</a:t>
            </a:r>
            <a:endParaRPr lang="en-US" sz="13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CB sale of Treasuries sends proceeds directly into gold — one trade, dual impact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6459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6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68680" y="20116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IS CATEGORICALLY DIFFERENT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114300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previous gold bull market had 1-2 drivers. This is a structural reallocation of the ENTIRE reserve system.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82880" y="1737360"/>
            <a:ext cx="2011680" cy="1645920"/>
          </a:xfrm>
          <a:prstGeom prst="rect">
            <a:avLst/>
          </a:prstGeom>
          <a:solidFill>
            <a:srgbClr val="1A3A5C"/>
          </a:solidFill>
          <a:ln w="25400">
            <a:solidFill>
              <a:srgbClr val="B03A2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82880" y="1737360"/>
            <a:ext cx="2011680" cy="347472"/>
          </a:xfrm>
          <a:prstGeom prst="rect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176479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80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CB SELLS TREASURY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" y="2148840"/>
            <a:ext cx="1828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dollar-denominated holdings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flows out of US debt market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212848" y="2487168"/>
            <a:ext cx="164592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1737360"/>
            <a:ext cx="2011680" cy="1645920"/>
          </a:xfrm>
          <a:prstGeom prst="rect">
            <a:avLst/>
          </a:prstGeom>
          <a:solidFill>
            <a:srgbClr val="1A3A5C"/>
          </a:solidFill>
          <a:ln w="25400">
            <a:solidFill>
              <a:srgbClr val="E74C3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395728" y="1737360"/>
            <a:ext cx="2011680" cy="34747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68880" y="176479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80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YIELDS RISE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487168" y="2148840"/>
            <a:ext cx="1828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demand = Treasury prices fall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borrowing costs increase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425696" y="2487168"/>
            <a:ext cx="164592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08576" y="1737360"/>
            <a:ext cx="2011680" cy="1645920"/>
          </a:xfrm>
          <a:prstGeom prst="rect">
            <a:avLst/>
          </a:prstGeom>
          <a:solidFill>
            <a:srgbClr val="1A3A5C"/>
          </a:solidFill>
          <a:ln w="254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08576" y="1737360"/>
            <a:ext cx="2011680" cy="34747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81728" y="176479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80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PROCEEDS → GOLD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00016" y="2148840"/>
            <a:ext cx="1828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transaction drives gold buying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impact from one trade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638544" y="2487168"/>
            <a:ext cx="164592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21424" y="1737360"/>
            <a:ext cx="2011680" cy="1645920"/>
          </a:xfrm>
          <a:prstGeom prst="rect">
            <a:avLst/>
          </a:prstGeom>
          <a:solidFill>
            <a:srgbClr val="1A3A5C"/>
          </a:solidFill>
          <a:ln w="2540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21424" y="1737360"/>
            <a:ext cx="2011680" cy="34747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94576" y="176479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80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CORRELATION BREAKS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912864" y="2148840"/>
            <a:ext cx="1828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AND dollar can rise together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inverse model fails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28600" y="3566160"/>
            <a:ext cx="8686800" cy="1234440"/>
          </a:xfrm>
          <a:prstGeom prst="rect">
            <a:avLst/>
          </a:prstGeom>
          <a:solidFill>
            <a:srgbClr val="0A1628"/>
          </a:solidFill>
          <a:ln w="254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28600" y="3566160"/>
            <a:ext cx="73152" cy="12344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363016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INSIGHT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11480" y="3931920"/>
            <a:ext cx="8321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model said: strong dollar = weak gold. That breaks when the selling pressure is SPECIFICALLY on dollar ASSETS rather than the dollar itself. The flow is: out of Treasuries → into gold — not out of dollars into euros. Gold and the dollar can both rise simultaneously. This is why gold defied every traditional correlation model in 2025-2026.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6459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6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68680" y="20116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STAGGERING MATH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82880" y="1234440"/>
            <a:ext cx="2011680" cy="1828800"/>
          </a:xfrm>
          <a:prstGeom prst="rect">
            <a:avLst/>
          </a:prstGeom>
          <a:solidFill>
            <a:srgbClr val="112233"/>
          </a:solidFill>
          <a:ln w="1905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" y="13258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$12T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228600" y="19659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8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FX Reserves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1463040" cy="18288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" y="233172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15-17% currently in gold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held by Western CBs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395728" y="1234440"/>
            <a:ext cx="2011680" cy="1828800"/>
          </a:xfrm>
          <a:prstGeom prst="rect">
            <a:avLst/>
          </a:prstGeom>
          <a:solidFill>
            <a:srgbClr val="112233"/>
          </a:solidFill>
          <a:ln w="1905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441448" y="13258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5%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2441448" y="19659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8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Required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670048" y="2286000"/>
            <a:ext cx="1463040" cy="18288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68880" y="233172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15% → 20% allocation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Modest by historical standards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08576" y="1234440"/>
            <a:ext cx="2011680" cy="1828800"/>
          </a:xfrm>
          <a:prstGeom prst="rect">
            <a:avLst/>
          </a:prstGeom>
          <a:solidFill>
            <a:srgbClr val="112233"/>
          </a:solidFill>
          <a:ln w="1905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54296" y="13258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$600B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4654296" y="19659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8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Gold Demand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82896" y="2286000"/>
            <a:ext cx="1463040" cy="18288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81728" y="233172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Representing ~4,300 tonnes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one small shift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21424" y="1234440"/>
            <a:ext cx="2011680" cy="1828800"/>
          </a:xfrm>
          <a:prstGeom prst="rect">
            <a:avLst/>
          </a:prstGeom>
          <a:solidFill>
            <a:srgbClr val="112233"/>
          </a:solidFill>
          <a:ln w="1905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867144" y="13258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3,500T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6867144" y="19659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8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Mine Output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095744" y="2286000"/>
            <a:ext cx="1463040" cy="18288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94576" y="233172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cover even one year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CB demand alone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28600" y="3246120"/>
            <a:ext cx="8686800" cy="777240"/>
          </a:xfrm>
          <a:prstGeom prst="rect">
            <a:avLst/>
          </a:prstGeom>
          <a:solidFill>
            <a:srgbClr val="243B55"/>
          </a:solidFill>
          <a:ln w="19050">
            <a:solidFill>
              <a:srgbClr val="E74C3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28600" y="3246120"/>
            <a:ext cx="73152" cy="77724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3337560"/>
            <a:ext cx="8321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CANNOT RESPOND: New mines take 8-12 years to develop. Ore grades declining globally. If reserves shift just 5%, demand exceeds ENTIRE annual mine output for 14+ months.</a:t>
            </a:r>
            <a:endParaRPr lang="en-US" sz="1300" dirty="0"/>
          </a:p>
        </p:txBody>
      </p:sp>
      <p:graphicFrame>
        <p:nvGraphicFramePr>
          <p:cNvPr id="29" name="Chart 0" descr=""/>
          <p:cNvGraphicFramePr/>
          <p:nvPr/>
        </p:nvGraphicFramePr>
        <p:xfrm>
          <a:off x="228600" y="4114800"/>
          <a:ext cx="8686800" cy="868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6459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6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68680" y="20116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DOES TO GOLD</a:t>
            </a:r>
            <a:endParaRPr lang="en-US" sz="26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28600" y="1143000"/>
          <a:ext cx="530352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760720" y="1143000"/>
            <a:ext cx="3154680" cy="914400"/>
          </a:xfrm>
          <a:prstGeom prst="rect">
            <a:avLst/>
          </a:prstGeom>
          <a:solidFill>
            <a:srgbClr val="243B55"/>
          </a:solidFill>
          <a:ln w="1905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852160" y="1197864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$6,000 - $8,000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5852160" y="1545336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 — 3-5 Years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852160" y="174650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Orderly reserve reallocation over time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760720" y="2167128"/>
            <a:ext cx="3154680" cy="914400"/>
          </a:xfrm>
          <a:prstGeom prst="rect">
            <a:avLst/>
          </a:prstGeom>
          <a:solidFill>
            <a:srgbClr val="243B55"/>
          </a:solidFill>
          <a:ln w="19050">
            <a:solidFill>
              <a:srgbClr val="F0C04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852160" y="2221992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0C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$8,000 - $12,000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5852160" y="2569464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 Case — Structural Break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852160" y="277063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 allocation rises to 25%+; supply deficit compounds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760720" y="3191256"/>
            <a:ext cx="3154680" cy="914400"/>
          </a:xfrm>
          <a:prstGeom prst="rect">
            <a:avLst/>
          </a:prstGeom>
          <a:solidFill>
            <a:srgbClr val="243B55"/>
          </a:solidFill>
          <a:ln w="1905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852160" y="3246120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$10,000+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5852160" y="3593592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Decade Target — Ed Yardeni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852160" y="379476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de-dollarisation + monetisation cycle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228600" y="3931920"/>
            <a:ext cx="8686800" cy="960120"/>
          </a:xfrm>
          <a:prstGeom prst="rect">
            <a:avLst/>
          </a:prstGeom>
          <a:solidFill>
            <a:srgbClr val="0A1628"/>
          </a:solidFill>
          <a:ln w="1905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365760" y="3977640"/>
            <a:ext cx="84124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doesn't go up. </a:t>
            </a:r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dollar goes DOWN to meet it.</a:t>
            </a:r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$6,000-$10,000 targets are not predictions — they are arithmetic outputs of simple supply and demand applied to a market where every central bank on earth is reorienting simultaneously.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B8C0CC"/>
          </a:solidFill>
          <a:ln w="12700">
            <a:solidFill>
              <a:srgbClr val="B8C0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6459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7F8C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68680" y="20116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D8E0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SILVER — THE EXPLOSIVE TRADE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82880" y="1188720"/>
            <a:ext cx="2788920" cy="3520440"/>
          </a:xfrm>
          <a:prstGeom prst="rect">
            <a:avLst/>
          </a:prstGeom>
          <a:solidFill>
            <a:srgbClr val="112233"/>
          </a:solidFill>
          <a:ln w="12700">
            <a:solidFill>
              <a:srgbClr val="B8C0C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32588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192024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8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OVERFLOW FROM GOLD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240280"/>
            <a:ext cx="2057400" cy="18288"/>
          </a:xfrm>
          <a:prstGeom prst="rect">
            <a:avLst/>
          </a:prstGeom>
          <a:solidFill>
            <a:srgbClr val="B8C0CC"/>
          </a:solidFill>
          <a:ln w="12700">
            <a:solidFill>
              <a:srgbClr val="B8C0C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92608" y="2304288"/>
            <a:ext cx="257860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CB buying in silver — that role doesn't exist. When gold becomes expensive and structurally bid by sovereigns, marginal private investors move to silver as the affordable monetary metal. Historically this compresses the gold-silver ratio from 60-65:1 to 30-40:1.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92608" y="4023360"/>
            <a:ext cx="2578608" cy="566928"/>
          </a:xfrm>
          <a:prstGeom prst="rect">
            <a:avLst/>
          </a:prstGeom>
          <a:solidFill>
            <a:srgbClr val="1A3A5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0040" y="4059936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Ratio target: 40:1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20040" y="4306824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$8,000 → Silver $200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154680" y="1188720"/>
            <a:ext cx="2788920" cy="3520440"/>
          </a:xfrm>
          <a:prstGeom prst="rect">
            <a:avLst/>
          </a:prstGeom>
          <a:solidFill>
            <a:srgbClr val="112233"/>
          </a:solidFill>
          <a:ln w="12700">
            <a:solidFill>
              <a:srgbClr val="B8C0C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325880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246120" y="192024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8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DEMAND FLOOR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3520440" y="2240280"/>
            <a:ext cx="2057400" cy="18288"/>
          </a:xfrm>
          <a:prstGeom prst="rect">
            <a:avLst/>
          </a:prstGeom>
          <a:solidFill>
            <a:srgbClr val="B8C0CC"/>
          </a:solidFill>
          <a:ln w="12700">
            <a:solidFill>
              <a:srgbClr val="B8C0CC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264408" y="2304288"/>
            <a:ext cx="257860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panels, EV batteries, AI data centre cooling, semiconductor manufacturing — all growing faster than supply. Silver has an industrial floor that gold doesn't. It benefits from BOTH the monetary reallocation AND global industrial growth simultaneously.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3264408" y="4023360"/>
            <a:ext cx="2578608" cy="566928"/>
          </a:xfrm>
          <a:prstGeom prst="rect">
            <a:avLst/>
          </a:prstGeom>
          <a:solidFill>
            <a:srgbClr val="1A3A5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291840" y="4059936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60%+ industrial use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3291840" y="4306824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inelastic above $50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6126480" y="1188720"/>
            <a:ext cx="2788920" cy="3520440"/>
          </a:xfrm>
          <a:prstGeom prst="rect">
            <a:avLst/>
          </a:prstGeom>
          <a:solidFill>
            <a:srgbClr val="112233"/>
          </a:solidFill>
          <a:ln w="12700">
            <a:solidFill>
              <a:srgbClr val="B8C0C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325880"/>
            <a:ext cx="502920" cy="5029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217920" y="192024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8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SIZE EXPLOSIVE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6492240" y="2240280"/>
            <a:ext cx="2057400" cy="18288"/>
          </a:xfrm>
          <a:prstGeom prst="rect">
            <a:avLst/>
          </a:prstGeom>
          <a:solidFill>
            <a:srgbClr val="B8C0CC"/>
          </a:solidFill>
          <a:ln w="12700">
            <a:solidFill>
              <a:srgbClr val="B8C0CC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6236208" y="2304288"/>
            <a:ext cx="257860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above-ground investable silver market is ~$50-60B at current prices. The US Treasury market is $27T. Global equities are $100T+. A reallocation of 0.1% of global financial assets into silver overwhelms the entire market.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6236208" y="4023360"/>
            <a:ext cx="2578608" cy="566928"/>
          </a:xfrm>
          <a:prstGeom prst="rect">
            <a:avLst/>
          </a:prstGeom>
          <a:solidFill>
            <a:srgbClr val="1A3A5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6263640" y="4059936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$50-60B</a:t>
            </a:r>
            <a:endParaRPr lang="en-US" sz="1400" dirty="0"/>
          </a:p>
        </p:txBody>
      </p:sp>
      <p:sp>
        <p:nvSpPr>
          <p:cNvPr id="29" name="Text 24"/>
          <p:cNvSpPr/>
          <p:nvPr/>
        </p:nvSpPr>
        <p:spPr>
          <a:xfrm>
            <a:off x="6263640" y="4306824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silver market size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182880" y="4846320"/>
            <a:ext cx="8778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Current: $74/oz  ●  $61 tested March 23 (structural floor held)  ●  Shanghai premium: $10-40 over COMEX  ●  COMEX registered: 70% below 2020 highs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6459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6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68680" y="20116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ORDERLY vs DISORDERLY — SPEED CHANGES EVERYTHING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28600" y="1143000"/>
            <a:ext cx="4160520" cy="3749040"/>
          </a:xfrm>
          <a:prstGeom prst="rect">
            <a:avLst/>
          </a:prstGeom>
          <a:solidFill>
            <a:srgbClr val="243B55"/>
          </a:solidFill>
          <a:ln w="2540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143000"/>
            <a:ext cx="4160520" cy="38404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18872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80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ORDERLY REALLOCATION  (Base Case)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600200"/>
            <a:ext cx="393192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Gradual over 3-5 years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yields rise 50-100bps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economy adjusts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Dollar weakens slowly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DXY targets 90-95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Gold: $4,500 → $6,000-8,000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3-5 years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Silver: $70 → $150-200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compresses to 40:1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adjusts with turbulence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avoids collapse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143000"/>
            <a:ext cx="4160520" cy="3749040"/>
          </a:xfrm>
          <a:prstGeom prst="rect">
            <a:avLst/>
          </a:prstGeom>
          <a:solidFill>
            <a:srgbClr val="243B55"/>
          </a:solidFill>
          <a:ln w="25400">
            <a:solidFill>
              <a:srgbClr val="E74C3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143000"/>
            <a:ext cx="4160520" cy="384048"/>
          </a:xfrm>
          <a:prstGeom prst="rect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18872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DISORDERLY REALLOCATION  (Tail Risk)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92040" y="1600200"/>
            <a:ext cx="393192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Failed Treasury auction,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holder dumps rapidly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Yields spike violently → US pays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interest → deficit grows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more bonds → yields spike more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 forced into yield curve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= money printing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Dollar itself comes under pressure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not just dollar assets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doesn't go to $8,000 —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goes wherever purchasing power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resides when dollar is monetised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6459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7F8C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68680" y="20116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74C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FED'S IMPOSSIBLE POSITION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4320" y="109728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world dumps US debt, the Fed has exactly TWO choices. Both are gold-bullish.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8600" y="1554480"/>
            <a:ext cx="4160520" cy="2286000"/>
          </a:xfrm>
          <a:prstGeom prst="rect">
            <a:avLst/>
          </a:prstGeom>
          <a:solidFill>
            <a:srgbClr val="112233"/>
          </a:solidFill>
          <a:ln w="254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1627632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 A: LET YIELDS RISE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965960"/>
            <a:ext cx="39319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Economy crashes as borrowing costs spike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Housing market collapses (mortgages)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debt markets seize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$36.7T debt becomes impossible to service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Recession → Fed eventually cuts anyway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" y="380390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GOLD UP (recession + eventual QE)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07992" y="1554480"/>
            <a:ext cx="109728" cy="228600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07408" y="251460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754880" y="1554480"/>
            <a:ext cx="4160520" cy="2286000"/>
          </a:xfrm>
          <a:prstGeom prst="rect">
            <a:avLst/>
          </a:prstGeom>
          <a:solidFill>
            <a:srgbClr val="112233"/>
          </a:solidFill>
          <a:ln w="25400">
            <a:solidFill>
              <a:srgbClr val="E74C3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46320" y="1627632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 B: PRINT MONEY (MONETISE)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1965960"/>
            <a:ext cx="39319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 buys Treasuries foreign holders are selling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monetisation of government debt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Dollar debasement — explicit and visible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 becomes entrenched, not transitory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dollar printed reduces dollar's value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380390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GOLD UP (explicit debasement)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8600" y="4160520"/>
            <a:ext cx="8686800" cy="749808"/>
          </a:xfrm>
          <a:prstGeom prst="rect">
            <a:avLst/>
          </a:prstGeom>
          <a:solidFill>
            <a:srgbClr val="0A1628"/>
          </a:solidFill>
          <a:ln w="254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65760" y="420624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THIRD OPTION. </a:t>
            </a:r>
            <a:pPr algn="l" indent="0" marL="0">
              <a:buNone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Fed is caught between a FISCAL CRISIS and a CURRENCY CRISIS. Whichever path it chooses — gold wins. This is why serious institutional money, not just gold bugs, is reorienting toward metals. The structural case does not require you to be a conspiracy theorist. It only requires you to do basic arithmetic.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6459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6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68680" y="20116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PRICE TARGETS &amp; ROADMAP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143000"/>
          <a:ext cx="8686800" cy="3566160"/>
        </p:xfrm>
        <a:graphic>
          <a:graphicData uri="http://schemas.openxmlformats.org/drawingml/2006/table">
            <a:tbl>
              <a:tblPr/>
              <a:tblGrid>
                <a:gridCol w="1920240"/>
                <a:gridCol w="2194560"/>
                <a:gridCol w="1463040"/>
                <a:gridCol w="1463040"/>
                <a:gridCol w="16459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TIMEFRAME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9A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 TARGET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8C0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SILVER TARGET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5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TODAY (March 2026)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5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Iran war / correction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9A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$4,400-4,600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8C0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$68-74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5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~62:1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5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Q2-Q3 2026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5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Ceasefire + oil falls + Fed pivot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9A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$5,000-5,500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8C0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$85-100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5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~55:1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5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 2026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5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CB demand 585T/quarter sustained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9A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$5,500-6,300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8C0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$100-135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5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~47:1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5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2027-2028 (Base)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5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Reserve reallocation 15% → 20%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0C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$6,000-8,000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8E0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$150-200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5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~40:1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5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2028-2030 (Bull)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5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Monetisation + BRICS gold backing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$8,000-12,000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$200-300+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5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~30-40:1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5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Decade (Yardeni)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5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de-dollarisation cycle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$10,000+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$250+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5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~25-40:1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28600" y="480060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Silver targets assume gold-silver ratio compression from current 62:1 toward historical 40:1 mean as gold becomes expensive for private investors and overflow demand accumulates into silver.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10912"/>
            <a:ext cx="9144000" cy="1371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7432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spc="500" kern="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BOTTOM LINE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20040" y="896112"/>
            <a:ext cx="8503920" cy="27432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51560"/>
            <a:ext cx="384048" cy="548640"/>
          </a:xfrm>
          <a:prstGeom prst="rect">
            <a:avLst/>
          </a:prstGeom>
          <a:solidFill>
            <a:srgbClr val="8B6914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78992"/>
            <a:ext cx="3840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1051560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a bull market. This is a REGIME CHANGE — the global reserve system is structurally reorienting away from Treasuries toward gold for the first time in 30 years.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847088"/>
            <a:ext cx="384048" cy="548640"/>
          </a:xfrm>
          <a:prstGeom prst="rect">
            <a:avLst/>
          </a:prstGeom>
          <a:solidFill>
            <a:srgbClr val="8B6914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874520"/>
            <a:ext cx="3840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22960" y="1847088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price levels — $6,000, $8,000, $10,000 — are not predictions. They are arithmetic. Simple supply and demand applied to a market where every central bank on earth is a concurrent buyer.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" y="2642616"/>
            <a:ext cx="384048" cy="548640"/>
          </a:xfrm>
          <a:prstGeom prst="rect">
            <a:avLst/>
          </a:prstGeom>
          <a:solidFill>
            <a:srgbClr val="8B6914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670048"/>
            <a:ext cx="3840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22960" y="2642616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Fed has no good choices. Let yields rise (kills economy → QE eventually), or print money (explicit debasement). Both roads lead to the same destination for gold.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0040" y="3438144"/>
            <a:ext cx="384048" cy="548640"/>
          </a:xfrm>
          <a:prstGeom prst="rect">
            <a:avLst/>
          </a:prstGeom>
          <a:solidFill>
            <a:srgbClr val="8B6914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3465576"/>
            <a:ext cx="3840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22960" y="3438144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has 3-5x the percentage upside of gold in this scenario: lower base price, industrial demand floor, ratio compression from 62:1 to 40:1, and a market so small any meaningful inflow overwhelms it.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20040" y="4233672"/>
            <a:ext cx="384048" cy="548640"/>
          </a:xfrm>
          <a:prstGeom prst="rect">
            <a:avLst/>
          </a:prstGeom>
          <a:solidFill>
            <a:srgbClr val="8B6914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4261104"/>
            <a:ext cx="3840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22960" y="4233672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$61 silver low and $4,400 gold level we saw in March 2026 — the cyclical war-inflation correction — will look like extraordinary gifts in this context. The correction is noise. The regime change is the signal.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20040" y="484632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  |  For research and educational purposes only — not financial advice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2026-04-12T06:34:22Z</dcterms:created>
  <dcterms:modified xsi:type="dcterms:W3CDTF">2026-04-12T06:34:22Z</dcterms:modified>
</cp:coreProperties>
</file>